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49EBAF-2E4A-4A83-B202-FC542D2D6E76}">
  <a:tblStyle styleId="{CC49EBAF-2E4A-4A83-B202-FC542D2D6E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9d7d9e4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d9d7d9e4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d9d7d9e476_0_0:notes"/>
          <p:cNvSpPr txBox="1"/>
          <p:nvPr/>
        </p:nvSpPr>
        <p:spPr>
          <a:xfrm>
            <a:off x="3884612" y="8685212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lang="en" sz="9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d7d9e47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d9d7d9e476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d9d7d9e476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d7d9e476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d9d7d9e476_2_2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d9d7d9e476_2_2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d7d9e476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d9d7d9e476_2_4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d9d7d9e476_2_4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d7d9e476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d9d7d9e476_2_6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d9d7d9e476_2_6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d7d9e476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d9d7d9e476_0_15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d9d7d9e476_0_15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d7d9e476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d9d7d9e476_0_18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d9d7d9e476_0_18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d7d9e476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d9d7d9e476_0_20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d9d7d9e476_0_20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9d7d9e476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d9d7d9e476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d9d7d9e476_0_287:notes"/>
          <p:cNvSpPr txBox="1"/>
          <p:nvPr/>
        </p:nvSpPr>
        <p:spPr>
          <a:xfrm>
            <a:off x="3884612" y="8685212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fld id="{00000000-1234-1234-1234-123412341234}" type="slidenum">
              <a:rPr lang="en" sz="9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400"/>
            </a:lvl1pPr>
            <a:lvl2pPr marL="914400" lvl="1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400"/>
            </a:lvl2pPr>
            <a:lvl3pPr marL="1371600" lvl="2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400"/>
            </a:lvl3pPr>
            <a:lvl4pPr marL="1828800" lvl="3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400"/>
            </a:lvl4pPr>
            <a:lvl5pPr marL="2286000" lvl="4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400"/>
            </a:lvl5pPr>
            <a:lvl6pPr marL="2743200" lvl="5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400"/>
            </a:lvl6pPr>
            <a:lvl7pPr marL="3200400" lvl="6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400"/>
            </a:lvl7pPr>
            <a:lvl8pPr marL="3657600" lvl="7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400"/>
            </a:lvl8pPr>
            <a:lvl9pPr marL="4114800" lvl="8" indent="-3429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2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2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qohmdrcktm3bqild9idtapp.streamlit.app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6" descr="16x9_BG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46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63500" dist="23000" dir="540000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4803775"/>
            <a:ext cx="1827214" cy="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600" y="1207025"/>
            <a:ext cx="9144000" cy="29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lang="en" sz="3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Avellaneda-Stoikov (2008)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900"/>
              <a:buFont typeface="Calibri"/>
              <a:buNone/>
            </a:pPr>
            <a:r>
              <a:rPr lang="en" sz="1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Making: Replication, Extension &amp; RL Benchmark</a:t>
            </a:r>
            <a:endParaRPr sz="1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endParaRPr sz="20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" sz="20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IEOR 4733</a:t>
            </a:r>
            <a:endParaRPr sz="20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" sz="1800" b="0" i="1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Presenters:</a:t>
            </a:r>
            <a:endParaRPr sz="1800" b="0" i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" sz="18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Katherine Pei</a:t>
            </a:r>
            <a:endParaRPr sz="18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" sz="18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Lingfeng Zhao</a:t>
            </a:r>
            <a:endParaRPr sz="18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" sz="18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Wenbo Gao</a:t>
            </a:r>
            <a:endParaRPr sz="18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72000" y="472172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 2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1 — Base Replication of Avellaneda &amp; Stoikov (2008)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0F8B8D"/>
          </a:solidFill>
          <a:ln w="12700" cap="flat" cmpd="sng">
            <a:solidFill>
              <a:srgbClr val="0F8B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228600" y="822960"/>
            <a:ext cx="420624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365760" y="8778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Core Formulas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365760" y="1161288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Reservation price: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n" sz="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Optimal spread: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8600" y="2697480"/>
            <a:ext cx="4206240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365760" y="276148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Replication Results  (1000 MC paths)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17"/>
          <p:cNvGraphicFramePr/>
          <p:nvPr/>
        </p:nvGraphicFramePr>
        <p:xfrm>
          <a:off x="365760" y="3017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{CC49EBAF-2E4A-4A83-B202-FC542D2D6E76}</a:tableStyleId>
              </a:tblPr>
              <a:tblGrid>
                <a:gridCol w="48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γ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Spread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Profit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Std P&amp;L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Std q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0.01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Inventory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1.35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68.5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8.7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5.2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1.35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68.7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DC2626"/>
                          </a:solidFill>
                        </a:rPr>
                        <a:t>12.7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8.5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0.10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Inventory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1.49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65.0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6.4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2.9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1.49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68.2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DC2626"/>
                          </a:solidFill>
                        </a:rPr>
                        <a:t>12.5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8.3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1.00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Inventory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3.02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38.3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5.9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1.6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Symmetric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3.02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43.6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DC2626"/>
                          </a:solidFill>
                        </a:rPr>
                        <a:t>10.6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5.2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3" name="Google Shape;83;p17"/>
          <p:cNvSpPr/>
          <p:nvPr/>
        </p:nvSpPr>
        <p:spPr>
          <a:xfrm>
            <a:off x="365760" y="4828032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Matches paper Tables 1–3 within Monte Carlo variation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63440" y="822960"/>
            <a:ext cx="4251960" cy="2377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9160" y="841248"/>
            <a:ext cx="41605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4663440" y="3291840"/>
            <a:ext cx="425196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9150" y="3310123"/>
            <a:ext cx="4160526" cy="169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Screenshot 2026-04-27 at 18.14.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25" y="1382850"/>
            <a:ext cx="2616350" cy="3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6-04-27 at 18.15.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325" y="1938975"/>
            <a:ext cx="2985244" cy="4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2 — GARCH(1,1) Volatility Stress Test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228600" y="822960"/>
            <a:ext cx="274320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365760" y="8778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65760" y="116128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Paper assumes σ = constant.</a:t>
            </a:r>
            <a:b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markets have vol clustering — calm followed by turbulent bursts.</a:t>
            </a:r>
            <a:b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 A-S still work?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108960" y="822960"/>
            <a:ext cx="274320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3246120" y="8778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GARCH(1,1)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246125" y="1161302"/>
            <a:ext cx="2469000" cy="1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lang="en" sz="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ω=0.001  α=0.25  β=0.70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Unconditional var = ω/(1−α−β) = (2√0.005)²</a:t>
            </a:r>
            <a:br>
              <a:rPr lang="en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50" b="0" i="1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Same long-run σ as paper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989320" y="822960"/>
            <a:ext cx="2926080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6126480" y="87782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Stress Test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18"/>
          <p:cNvGraphicFramePr/>
          <p:nvPr/>
        </p:nvGraphicFramePr>
        <p:xfrm>
          <a:off x="6057955" y="116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{CC49EBAF-2E4A-4A83-B202-FC542D2D6E76}</a:tableStyleId>
              </a:tblPr>
              <a:tblGrid>
                <a:gridCol w="124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Agent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P&amp;L Mean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P&amp;L Std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Std q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Fixed σ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64.8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6.1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GARCH adaptive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65.3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6.7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3.2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" name="Google Shape;108;p18"/>
          <p:cNvSpPr/>
          <p:nvPr/>
        </p:nvSpPr>
        <p:spPr>
          <a:xfrm>
            <a:off x="6057943" y="2038973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Both agents stable — model is robust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28600" y="2377450"/>
            <a:ext cx="8686800" cy="240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9525" y="2440963"/>
            <a:ext cx="6544925" cy="233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228600" y="4828049"/>
            <a:ext cx="8686800" cy="315600"/>
          </a:xfrm>
          <a:prstGeom prst="rect">
            <a:avLst/>
          </a:prstGeom>
          <a:solidFill>
            <a:srgbClr val="EDE9FE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365750" y="4882900"/>
            <a:ext cx="86868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Finding: </a:t>
            </a: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A-S strategy is robust to volatility clustering — aggregate P&amp;L and risk metrics remain stable whether σ is constant or GARCH(1,1). The inventory control mechanism works even when its core volatility assumption is violated.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8" title="Screenshot 2026-04-27 at 18.04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125" y="1133850"/>
            <a:ext cx="1970225" cy="4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3 — Real Data Calibration (LOBSTER AAPL, June 21 2012)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E8A838"/>
          </a:solidFill>
          <a:ln w="12700" cap="flat" cmpd="sng">
            <a:solidFill>
              <a:srgbClr val="E8A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365760" y="8778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Arrival Intensity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65760" y="1161288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endParaRPr sz="1800" b="0" i="0" u="none" strike="noStrike" cap="none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δ = distance of limit order from mid-price  | A = baseline rate  | k = decay speed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28600" y="2176272"/>
            <a:ext cx="4206240" cy="822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365750" y="2231125"/>
            <a:ext cx="38220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LOBSTER AAPL 2012-06-21  ·  </a:t>
            </a: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34,186 executions  ·  23,400 sec trading window</a:t>
            </a:r>
            <a:b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log-spaced bins  ·  δ range: 0.005–0.136  ·  rate range: 0.76–111.27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228600" y="3127250"/>
            <a:ext cx="4150200" cy="187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365760" y="319125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Calibration Results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365760" y="347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{CC49EBAF-2E4A-4A83-B202-FC542D2D6E76}</a:tableStyleId>
              </a:tblPr>
              <a:tblGrid>
                <a:gridCol w="105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A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k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R²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vs Paper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Exponential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136.6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00000"/>
                          </a:solidFill>
                        </a:rPr>
                        <a:t>59.47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0.924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A matches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Power-law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0.2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α=1.32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DC2626"/>
                          </a:solidFill>
                        </a:rPr>
                        <a:t>0.357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Loses clearly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64748B"/>
                          </a:solidFill>
                        </a:rPr>
                        <a:t>Paper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140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1.5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—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Reference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1" name="Google Shape;131;p19"/>
          <p:cNvSpPr/>
          <p:nvPr/>
        </p:nvSpPr>
        <p:spPr>
          <a:xfrm>
            <a:off x="230175" y="4645150"/>
            <a:ext cx="4443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Why k differs: </a:t>
            </a: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AAPL quotes in cent-scale increments (δ range 0.005–0.14 $). Paper assumed dollar-scale δ. When rescaled to same units, both estimates are</a:t>
            </a:r>
            <a:r>
              <a:rPr lang="en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consistent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485850" y="822950"/>
            <a:ext cx="4658100" cy="4206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5850" y="822975"/>
            <a:ext cx="4658101" cy="42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Screenshot 2026-04-27 at 18.13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00" y="1133850"/>
            <a:ext cx="1414500" cy="3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320040" y="0"/>
            <a:ext cx="8046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4 — Multi-Asset Extension: AAPL × AMZN Correlation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850392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228600" y="822960"/>
            <a:ext cx="4206240" cy="1828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365760" y="8778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Multi-Asset Reservation Price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65760" y="1161288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lang="en" sz="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endParaRPr sz="950" i="1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endParaRPr sz="950" i="1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endParaRPr sz="950" i="1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endParaRPr sz="950" i="1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endParaRPr sz="950" i="1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Cross term ρσ₁σ₂·q₂ is absent from single-asset model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228600" y="2779776"/>
            <a:ext cx="4206240" cy="5303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365760" y="283464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Realized AAPL/AMZN ρ = 0.497  ·  </a:t>
            </a: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σ_AAPL = 5.42  ·  σ_AMZN = 3.38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365760" y="30906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Sanity check ρ=0 → PASS (collapses to single-asset formula exactly)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28600" y="3438144"/>
            <a:ext cx="4206240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365760" y="341986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Effect of ρ on Reservation Prices  (q=[2,−1], t=0)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20"/>
          <p:cNvGraphicFramePr/>
          <p:nvPr/>
        </p:nvGraphicFramePr>
        <p:xfrm>
          <a:off x="274285" y="3637266"/>
          <a:ext cx="4160550" cy="1226550"/>
        </p:xfrm>
        <a:graphic>
          <a:graphicData uri="http://schemas.openxmlformats.org/drawingml/2006/table">
            <a:tbl>
              <a:tblPr>
                <a:noFill/>
                <a:tableStyleId>{CC49EBAF-2E4A-4A83-B202-FC542D2D6E76}</a:tableStyleId>
              </a:tblPr>
              <a:tblGrid>
                <a:gridCol w="85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ρ assumed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r₁ (AAPL)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r₂ (AMZN)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Note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−0.50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93.22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52.97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0.00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94.13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51.14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single-asset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00000"/>
                          </a:solidFill>
                        </a:rPr>
                        <a:t>0.50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95.05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6A34A"/>
                          </a:solidFill>
                        </a:rPr>
                        <a:t>49.31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8B8D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8B8D"/>
                          </a:solidFill>
                        </a:rPr>
                        <a:t>← realized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0.90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95.78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47.85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" name="Google Shape;153;p20"/>
          <p:cNvSpPr/>
          <p:nvPr/>
        </p:nvSpPr>
        <p:spPr>
          <a:xfrm>
            <a:off x="4572000" y="822950"/>
            <a:ext cx="4499400" cy="4206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1775" y="827925"/>
            <a:ext cx="4399626" cy="40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274275" y="4863818"/>
            <a:ext cx="8686800" cy="1188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274285" y="4863818"/>
            <a:ext cx="84126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Misspecification cost = γ(T−t) · |ρₜᵣᵘᵉ − ρᵘᵢᵢᵉ| · σ₁ · σ₂ · |q₂|</a:t>
            </a: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  AAPL/AMZN (ρ=0.497): 0.455 price units     vs     AAPL morn/aft (ρ≈0): ≈0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 title="Screenshot 2026-04-27 at 18.11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00" y="1093600"/>
            <a:ext cx="1789875" cy="11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0"/>
            <a:ext cx="9144000" cy="713400"/>
          </a:xfrm>
          <a:prstGeom prst="rect">
            <a:avLst/>
          </a:prstGeom>
          <a:solidFill>
            <a:srgbClr val="0D1B3E"/>
          </a:solidFill>
          <a:ln w="9525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Reinforcement Learning (RL)? — Phase 5</a:t>
            </a:r>
            <a:endParaRPr sz="1200" b="0" i="0" u="none" strike="noStrike" cap="none"/>
          </a:p>
        </p:txBody>
      </p:sp>
      <p:sp>
        <p:nvSpPr>
          <p:cNvPr id="166" name="Google Shape;166;p21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8412480" y="118872"/>
            <a:ext cx="6858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sz="1200" b="0" i="0" u="none" strike="noStrike" cap="none"/>
          </a:p>
        </p:txBody>
      </p:sp>
      <p:sp>
        <p:nvSpPr>
          <p:cNvPr id="169" name="Google Shape;169;p21"/>
          <p:cNvSpPr/>
          <p:nvPr/>
        </p:nvSpPr>
        <p:spPr>
          <a:xfrm>
            <a:off x="228600" y="822960"/>
            <a:ext cx="4206300" cy="17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36576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RL Introduction</a:t>
            </a:r>
            <a:endParaRPr sz="1200" b="0" i="0" u="none" strike="noStrike" cap="none"/>
          </a:p>
        </p:txBody>
      </p:sp>
      <p:sp>
        <p:nvSpPr>
          <p:cNvPr id="171" name="Google Shape;171;p21"/>
          <p:cNvSpPr/>
          <p:nvPr/>
        </p:nvSpPr>
        <p:spPr>
          <a:xfrm>
            <a:off x="365760" y="1161288"/>
            <a:ext cx="39318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RL is a learning paradigm where an Agent interacts with an Environment to maximise long-term reward.</a:t>
            </a:r>
            <a:endParaRPr sz="1200" b="0" i="0" u="none" strike="noStrike" cap="none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loop:</a:t>
            </a:r>
            <a:endParaRPr sz="1200" b="0" i="0" u="none" strike="noStrike" cap="none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── action ──► Environment</a:t>
            </a:r>
            <a:endParaRPr sz="1200" b="0" i="0" u="none" strike="noStrike" cap="none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◄── state, reward ── Environment</a:t>
            </a:r>
            <a:endParaRPr sz="1200" b="0" i="0" u="none" strike="noStrike" cap="none" dirty="0"/>
          </a:p>
        </p:txBody>
      </p:sp>
      <p:sp>
        <p:nvSpPr>
          <p:cNvPr id="172" name="Google Shape;172;p21"/>
          <p:cNvSpPr/>
          <p:nvPr/>
        </p:nvSpPr>
        <p:spPr>
          <a:xfrm>
            <a:off x="4709160" y="822960"/>
            <a:ext cx="4206300" cy="17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484632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What problems does RL solve?</a:t>
            </a:r>
            <a:endParaRPr sz="1200" b="0" i="0" u="none" strike="noStrike" cap="none"/>
          </a:p>
        </p:txBody>
      </p:sp>
      <p:sp>
        <p:nvSpPr>
          <p:cNvPr id="174" name="Google Shape;174;p21"/>
          <p:cNvSpPr/>
          <p:nvPr/>
        </p:nvSpPr>
        <p:spPr>
          <a:xfrm>
            <a:off x="4846320" y="1161288"/>
            <a:ext cx="39318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RL works when: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Environment is unknown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Decisions affect future states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Reward arrives with delay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Optimal action depends on context</a:t>
            </a:r>
            <a:endParaRPr sz="1200" b="0" i="0" u="none" strike="noStrike" cap="none"/>
          </a:p>
        </p:txBody>
      </p:sp>
      <p:sp>
        <p:nvSpPr>
          <p:cNvPr id="175" name="Google Shape;175;p21"/>
          <p:cNvSpPr/>
          <p:nvPr/>
        </p:nvSpPr>
        <p:spPr>
          <a:xfrm>
            <a:off x="228600" y="2697480"/>
            <a:ext cx="4206300" cy="17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365760" y="276148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RL fits Market Making</a:t>
            </a:r>
            <a:endParaRPr sz="1200" b="0" i="0" u="none" strike="noStrike" cap="none"/>
          </a:p>
        </p:txBody>
      </p:sp>
      <p:sp>
        <p:nvSpPr>
          <p:cNvPr id="177" name="Google Shape;177;p21"/>
          <p:cNvSpPr/>
          <p:nvPr/>
        </p:nvSpPr>
        <p:spPr>
          <a:xfrm>
            <a:off x="365760" y="3017520"/>
            <a:ext cx="3931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Market making is a textbook sequential decision problem.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Sequential nature: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Today's quote affects tomorrow's inventory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Inventory affects tomorrow's quote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Decisions cannot be made in isolation</a:t>
            </a:r>
            <a:endParaRPr sz="1200" b="0" i="0" u="none" strike="noStrike" cap="none"/>
          </a:p>
        </p:txBody>
      </p:sp>
      <p:sp>
        <p:nvSpPr>
          <p:cNvPr id="178" name="Google Shape;178;p21"/>
          <p:cNvSpPr/>
          <p:nvPr/>
        </p:nvSpPr>
        <p:spPr>
          <a:xfrm>
            <a:off x="4709160" y="2697480"/>
            <a:ext cx="4206300" cy="173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846320" y="276148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use RL here?</a:t>
            </a:r>
            <a:endParaRPr sz="1200" b="0" i="0" u="none" strike="noStrike" cap="none"/>
          </a:p>
        </p:txBody>
      </p:sp>
      <p:sp>
        <p:nvSpPr>
          <p:cNvPr id="180" name="Google Shape;180;p21"/>
          <p:cNvSpPr/>
          <p:nvPr/>
        </p:nvSpPr>
        <p:spPr>
          <a:xfrm>
            <a:off x="4846320" y="3017520"/>
            <a:ext cx="3931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A-S gives the analytic optimum — but only under strong assumptions.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Model-free RL algorithm offers a method withous assumptions. It can be a benchmark algorithm for comparison.</a:t>
            </a:r>
            <a:endParaRPr sz="1200" b="0" i="0" u="none" strike="noStrike" cap="none"/>
          </a:p>
        </p:txBody>
      </p:sp>
      <p:sp>
        <p:nvSpPr>
          <p:cNvPr id="181" name="Google Shape;181;p21"/>
          <p:cNvSpPr/>
          <p:nvPr/>
        </p:nvSpPr>
        <p:spPr>
          <a:xfrm>
            <a:off x="228600" y="4572000"/>
            <a:ext cx="8686800" cy="384000"/>
          </a:xfrm>
          <a:prstGeom prst="rect">
            <a:avLst/>
          </a:prstGeom>
          <a:solidFill>
            <a:srgbClr val="EDE9FE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365760" y="457200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RL is not meant to replace A-S — it is a learning-based stress test that probes whether the analytic solution remains optimal when reality breaks the model's assumptions.</a:t>
            </a:r>
            <a:endParaRPr sz="1200" b="0" i="0" u="none" strike="noStrike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EE25C1-E024-DE1F-15A8-F1AFF68E9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34536"/>
            <a:ext cx="3774141" cy="3171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0" y="0"/>
            <a:ext cx="9144000" cy="713400"/>
          </a:xfrm>
          <a:prstGeom prst="rect">
            <a:avLst/>
          </a:prstGeom>
          <a:solidFill>
            <a:srgbClr val="0D1B3E"/>
          </a:solidFill>
          <a:ln w="9525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Reinforcement Learning Benchmark Setup — Phase 5</a:t>
            </a:r>
            <a:endParaRPr sz="1200" b="0" i="0" u="none" strike="noStrike" cap="none"/>
          </a:p>
        </p:txBody>
      </p:sp>
      <p:sp>
        <p:nvSpPr>
          <p:cNvPr id="191" name="Google Shape;191;p22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8412480" y="118872"/>
            <a:ext cx="6858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sz="1200" b="0" i="0" u="none" strike="noStrike" cap="none"/>
          </a:p>
        </p:txBody>
      </p:sp>
      <p:sp>
        <p:nvSpPr>
          <p:cNvPr id="194" name="Google Shape;194;p22"/>
          <p:cNvSpPr/>
          <p:nvPr/>
        </p:nvSpPr>
        <p:spPr>
          <a:xfrm>
            <a:off x="228600" y="822960"/>
            <a:ext cx="4206300" cy="1238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36576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State Space (330 states)</a:t>
            </a:r>
            <a:endParaRPr sz="1200" b="0" i="0" u="none" strike="noStrike" cap="none"/>
          </a:p>
        </p:txBody>
      </p:sp>
      <p:sp>
        <p:nvSpPr>
          <p:cNvPr id="196" name="Google Shape;196;p22"/>
          <p:cNvSpPr/>
          <p:nvPr/>
        </p:nvSpPr>
        <p:spPr>
          <a:xfrm>
            <a:off x="365760" y="116128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Inventory q ∈ [−5,5] ×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Time bucket (10 steps) ×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Vol regime: low / normal / high</a:t>
            </a:r>
            <a:endParaRPr sz="1200" b="0" i="0" u="none" strike="noStrike" cap="none"/>
          </a:p>
        </p:txBody>
      </p:sp>
      <p:sp>
        <p:nvSpPr>
          <p:cNvPr id="197" name="Google Shape;197;p22"/>
          <p:cNvSpPr/>
          <p:nvPr/>
        </p:nvSpPr>
        <p:spPr>
          <a:xfrm>
            <a:off x="4709160" y="822960"/>
            <a:ext cx="4206300" cy="1238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4846320" y="877824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Action Space (25 actions)</a:t>
            </a:r>
            <a:endParaRPr sz="1200" b="0" i="0" u="none" strike="noStrike" cap="none"/>
          </a:p>
        </p:txBody>
      </p:sp>
      <p:sp>
        <p:nvSpPr>
          <p:cNvPr id="199" name="Google Shape;199;p22"/>
          <p:cNvSpPr/>
          <p:nvPr/>
        </p:nvSpPr>
        <p:spPr>
          <a:xfrm>
            <a:off x="4846320" y="116128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δᵃ, δᵇ ∈ {0.10, 0.30, 0.50, 0.80, 1.20}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combinations → 5×5 grid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Tabular Q-table: 330 × 25</a:t>
            </a:r>
            <a:endParaRPr sz="1200" b="0" i="0" u="none" strike="noStrike" cap="none"/>
          </a:p>
        </p:txBody>
      </p:sp>
      <p:sp>
        <p:nvSpPr>
          <p:cNvPr id="200" name="Google Shape;200;p22"/>
          <p:cNvSpPr/>
          <p:nvPr/>
        </p:nvSpPr>
        <p:spPr>
          <a:xfrm>
            <a:off x="228600" y="2286000"/>
            <a:ext cx="4206300" cy="1238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365760" y="235000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Reward Function</a:t>
            </a:r>
            <a:endParaRPr sz="1200" b="0" i="0" u="none" strike="noStrike" cap="none"/>
          </a:p>
        </p:txBody>
      </p:sp>
      <p:sp>
        <p:nvSpPr>
          <p:cNvPr id="202" name="Google Shape;202;p22"/>
          <p:cNvSpPr/>
          <p:nvPr/>
        </p:nvSpPr>
        <p:spPr>
          <a:xfrm>
            <a:off x="365760" y="262432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Δwealth − penalty·q²·dt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Inventory penalty prevents the agent from simply taking directional bets</a:t>
            </a:r>
            <a:endParaRPr sz="1200" b="0" i="0" u="none" strike="noStrike" cap="none"/>
          </a:p>
        </p:txBody>
      </p:sp>
      <p:sp>
        <p:nvSpPr>
          <p:cNvPr id="203" name="Google Shape;203;p22"/>
          <p:cNvSpPr/>
          <p:nvPr/>
        </p:nvSpPr>
        <p:spPr>
          <a:xfrm>
            <a:off x="4709160" y="2286000"/>
            <a:ext cx="4206300" cy="1238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846320" y="2350008"/>
            <a:ext cx="3931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200" b="0" i="0" u="none" strike="noStrike" cap="none"/>
          </a:p>
        </p:txBody>
      </p:sp>
      <p:sp>
        <p:nvSpPr>
          <p:cNvPr id="205" name="Google Shape;205;p22"/>
          <p:cNvSpPr/>
          <p:nvPr/>
        </p:nvSpPr>
        <p:spPr>
          <a:xfrm>
            <a:off x="4846320" y="2624328"/>
            <a:ext cx="39318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5,000 episodes on MarketSimulator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= 136.6 (LOBSTER-calibrated)</a:t>
            </a:r>
            <a:endParaRPr sz="12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ε-greedy: 0.30 → 0.02 decay</a:t>
            </a:r>
            <a:endParaRPr sz="1200" b="0" i="0" u="none" strike="noStrike" cap="none"/>
          </a:p>
        </p:txBody>
      </p:sp>
      <p:sp>
        <p:nvSpPr>
          <p:cNvPr id="206" name="Google Shape;206;p22"/>
          <p:cNvSpPr/>
          <p:nvPr/>
        </p:nvSpPr>
        <p:spPr>
          <a:xfrm>
            <a:off x="228600" y="3714750"/>
            <a:ext cx="8686800" cy="381000"/>
          </a:xfrm>
          <a:prstGeom prst="rect">
            <a:avLst/>
          </a:prstGeom>
          <a:solidFill>
            <a:srgbClr val="EDE9FE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13430" dir="18900000" algn="bl" rotWithShape="0">
              <a:srgbClr val="000000">
                <a:alpha val="980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365760" y="3714750"/>
            <a:ext cx="8412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tabular Q-learning? Simple, interpretable, and sufficient to test whether model-free RL can match an analytic solution.</a:t>
            </a:r>
            <a:endParaRPr sz="12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1B3E"/>
          </a:solidFill>
          <a:ln w="9525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320040" y="0"/>
            <a:ext cx="8046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Real-Data Backtest + Key Takeaways — Phase 5 &amp; RL</a:t>
            </a:r>
            <a:endParaRPr sz="1200" b="0" i="0" u="none" strike="noStrike" cap="none"/>
          </a:p>
        </p:txBody>
      </p:sp>
      <p:sp>
        <p:nvSpPr>
          <p:cNvPr id="216" name="Google Shape;216;p23"/>
          <p:cNvSpPr/>
          <p:nvPr/>
        </p:nvSpPr>
        <p:spPr>
          <a:xfrm>
            <a:off x="8503920" y="164592"/>
            <a:ext cx="502800" cy="50280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8412480" y="118872"/>
            <a:ext cx="6858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sz="1200" b="0" i="0" u="none" strike="noStrike" cap="none"/>
          </a:p>
        </p:txBody>
      </p:sp>
      <p:sp>
        <p:nvSpPr>
          <p:cNvPr id="218" name="Google Shape;218;p23"/>
          <p:cNvSpPr/>
          <p:nvPr/>
        </p:nvSpPr>
        <p:spPr>
          <a:xfrm>
            <a:off x="5806440" y="777240"/>
            <a:ext cx="3108900" cy="24507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3430" dir="189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806440" y="777240"/>
            <a:ext cx="3108900" cy="347400"/>
          </a:xfrm>
          <a:prstGeom prst="rect">
            <a:avLst/>
          </a:prstGeom>
          <a:solidFill>
            <a:srgbClr val="0D1B3E"/>
          </a:solidFill>
          <a:ln w="9525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5916168" y="777240"/>
            <a:ext cx="2926200" cy="347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824728" y="731520"/>
            <a:ext cx="310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AAPL Real-Data Results</a:t>
            </a:r>
            <a:endParaRPr sz="1200" b="0" i="0" u="none" strike="noStrike" cap="none"/>
          </a:p>
        </p:txBody>
      </p:sp>
      <p:sp>
        <p:nvSpPr>
          <p:cNvPr id="222" name="Google Shape;222;p23"/>
          <p:cNvSpPr/>
          <p:nvPr/>
        </p:nvSpPr>
        <p:spPr>
          <a:xfrm>
            <a:off x="5852160" y="1152144"/>
            <a:ext cx="1234500" cy="457200"/>
          </a:xfrm>
          <a:prstGeom prst="rect">
            <a:avLst/>
          </a:prstGeom>
          <a:solidFill>
            <a:srgbClr val="0D1B3E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888736" y="1152144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916168" y="1124617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sz="1200" b="0" i="0" u="none" strike="noStrike" cap="none"/>
          </a:p>
        </p:txBody>
      </p:sp>
      <p:sp>
        <p:nvSpPr>
          <p:cNvPr id="225" name="Google Shape;225;p23"/>
          <p:cNvSpPr/>
          <p:nvPr/>
        </p:nvSpPr>
        <p:spPr>
          <a:xfrm>
            <a:off x="7114032" y="1152144"/>
            <a:ext cx="914400" cy="457200"/>
          </a:xfrm>
          <a:prstGeom prst="rect">
            <a:avLst/>
          </a:prstGeom>
          <a:solidFill>
            <a:srgbClr val="0D1B3E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7150608" y="1152144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7150608" y="1124617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P&amp;L</a:t>
            </a:r>
            <a:endParaRPr sz="1200" b="0" i="0" u="none" strike="noStrike" cap="none"/>
          </a:p>
        </p:txBody>
      </p:sp>
      <p:sp>
        <p:nvSpPr>
          <p:cNvPr id="228" name="Google Shape;228;p23"/>
          <p:cNvSpPr/>
          <p:nvPr/>
        </p:nvSpPr>
        <p:spPr>
          <a:xfrm>
            <a:off x="8055864" y="1152144"/>
            <a:ext cx="822900" cy="457200"/>
          </a:xfrm>
          <a:prstGeom prst="rect">
            <a:avLst/>
          </a:prstGeom>
          <a:solidFill>
            <a:srgbClr val="0D1B3E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8092440" y="1152144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8165687" y="1124617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Sharpe</a:t>
            </a:r>
            <a:endParaRPr sz="1200" b="0" i="0" u="none" strike="noStrike" cap="none"/>
          </a:p>
        </p:txBody>
      </p:sp>
      <p:sp>
        <p:nvSpPr>
          <p:cNvPr id="231" name="Google Shape;231;p23"/>
          <p:cNvSpPr/>
          <p:nvPr/>
        </p:nvSpPr>
        <p:spPr>
          <a:xfrm>
            <a:off x="5852160" y="1627632"/>
            <a:ext cx="1234500" cy="457200"/>
          </a:xfrm>
          <a:prstGeom prst="rect">
            <a:avLst/>
          </a:prstGeom>
          <a:solidFill>
            <a:srgbClr val="E8F0FA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888736" y="1627632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916168" y="1609344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A-S Inv.</a:t>
            </a:r>
            <a:endParaRPr sz="1200" b="0" i="0" u="none" strike="noStrike" cap="none"/>
          </a:p>
        </p:txBody>
      </p:sp>
      <p:sp>
        <p:nvSpPr>
          <p:cNvPr id="234" name="Google Shape;234;p23"/>
          <p:cNvSpPr/>
          <p:nvPr/>
        </p:nvSpPr>
        <p:spPr>
          <a:xfrm>
            <a:off x="7114032" y="1627632"/>
            <a:ext cx="914400" cy="457200"/>
          </a:xfrm>
          <a:prstGeom prst="rect">
            <a:avLst/>
          </a:prstGeom>
          <a:solidFill>
            <a:srgbClr val="E8F0FA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150608" y="1627632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7150608" y="1609344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~530</a:t>
            </a:r>
            <a:endParaRPr sz="1200" b="0" i="0" u="none" strike="noStrike" cap="none"/>
          </a:p>
        </p:txBody>
      </p:sp>
      <p:sp>
        <p:nvSpPr>
          <p:cNvPr id="237" name="Google Shape;237;p23"/>
          <p:cNvSpPr/>
          <p:nvPr/>
        </p:nvSpPr>
        <p:spPr>
          <a:xfrm>
            <a:off x="8055864" y="1627632"/>
            <a:ext cx="822900" cy="457200"/>
          </a:xfrm>
          <a:prstGeom prst="rect">
            <a:avLst/>
          </a:prstGeom>
          <a:solidFill>
            <a:srgbClr val="E8F0FA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8092440" y="1627632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8074247" y="1609344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~14.3</a:t>
            </a:r>
            <a:endParaRPr sz="1200" b="0" i="0" u="none" strike="noStrike" cap="none"/>
          </a:p>
        </p:txBody>
      </p:sp>
      <p:sp>
        <p:nvSpPr>
          <p:cNvPr id="240" name="Google Shape;240;p23"/>
          <p:cNvSpPr/>
          <p:nvPr/>
        </p:nvSpPr>
        <p:spPr>
          <a:xfrm>
            <a:off x="5852160" y="2103120"/>
            <a:ext cx="1234500" cy="4572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888736" y="2103120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916168" y="2084832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sz="1200" b="0" i="0" u="none" strike="noStrike" cap="none"/>
          </a:p>
        </p:txBody>
      </p:sp>
      <p:sp>
        <p:nvSpPr>
          <p:cNvPr id="243" name="Google Shape;243;p23"/>
          <p:cNvSpPr/>
          <p:nvPr/>
        </p:nvSpPr>
        <p:spPr>
          <a:xfrm>
            <a:off x="7114032" y="2103120"/>
            <a:ext cx="914400" cy="4572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7150608" y="2103120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7150608" y="2084832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~530</a:t>
            </a:r>
            <a:endParaRPr sz="1200" b="0" i="0" u="none" strike="noStrike" cap="none"/>
          </a:p>
        </p:txBody>
      </p:sp>
      <p:sp>
        <p:nvSpPr>
          <p:cNvPr id="246" name="Google Shape;246;p23"/>
          <p:cNvSpPr/>
          <p:nvPr/>
        </p:nvSpPr>
        <p:spPr>
          <a:xfrm>
            <a:off x="8055864" y="2103120"/>
            <a:ext cx="822900" cy="4572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8092440" y="2103120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8074247" y="2084832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~14.3</a:t>
            </a:r>
            <a:endParaRPr sz="1200" b="0" i="0" u="none" strike="noStrike" cap="none"/>
          </a:p>
        </p:txBody>
      </p:sp>
      <p:sp>
        <p:nvSpPr>
          <p:cNvPr id="249" name="Google Shape;249;p23"/>
          <p:cNvSpPr/>
          <p:nvPr/>
        </p:nvSpPr>
        <p:spPr>
          <a:xfrm>
            <a:off x="5852160" y="2578608"/>
            <a:ext cx="1234500" cy="457200"/>
          </a:xfrm>
          <a:prstGeom prst="rect">
            <a:avLst/>
          </a:prstGeom>
          <a:solidFill>
            <a:srgbClr val="FDECEA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888736" y="2578608"/>
            <a:ext cx="11613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916168" y="2560320"/>
            <a:ext cx="1344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RL Agent</a:t>
            </a:r>
            <a:endParaRPr sz="1200" b="0" i="0" u="none" strike="noStrike" cap="none"/>
          </a:p>
        </p:txBody>
      </p:sp>
      <p:sp>
        <p:nvSpPr>
          <p:cNvPr id="252" name="Google Shape;252;p23"/>
          <p:cNvSpPr/>
          <p:nvPr/>
        </p:nvSpPr>
        <p:spPr>
          <a:xfrm>
            <a:off x="7114032" y="2578608"/>
            <a:ext cx="914400" cy="457200"/>
          </a:xfrm>
          <a:prstGeom prst="rect">
            <a:avLst/>
          </a:prstGeom>
          <a:solidFill>
            <a:srgbClr val="FDECEA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7150608" y="2578608"/>
            <a:ext cx="841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7150608" y="2560320"/>
            <a:ext cx="10239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~460</a:t>
            </a:r>
            <a:endParaRPr sz="1200" b="0" i="0" u="none" strike="noStrike" cap="none"/>
          </a:p>
        </p:txBody>
      </p:sp>
      <p:sp>
        <p:nvSpPr>
          <p:cNvPr id="255" name="Google Shape;255;p23"/>
          <p:cNvSpPr/>
          <p:nvPr/>
        </p:nvSpPr>
        <p:spPr>
          <a:xfrm>
            <a:off x="8055864" y="2578608"/>
            <a:ext cx="822900" cy="457200"/>
          </a:xfrm>
          <a:prstGeom prst="rect">
            <a:avLst/>
          </a:prstGeom>
          <a:solidFill>
            <a:srgbClr val="FDECEA"/>
          </a:solidFill>
          <a:ln w="71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8092440" y="2578608"/>
            <a:ext cx="7497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8037623" y="2560320"/>
            <a:ext cx="9327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~12.5</a:t>
            </a:r>
            <a:endParaRPr sz="1200" b="0" i="0" u="none" strike="noStrike" cap="none"/>
          </a:p>
        </p:txBody>
      </p:sp>
      <p:sp>
        <p:nvSpPr>
          <p:cNvPr id="258" name="Google Shape;258;p23"/>
          <p:cNvSpPr/>
          <p:nvPr/>
        </p:nvSpPr>
        <p:spPr>
          <a:xfrm>
            <a:off x="5806440" y="2962656"/>
            <a:ext cx="3108900" cy="255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715000" y="2916936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RL underperforms A-S by ~13% P&amp;L</a:t>
            </a:r>
            <a:endParaRPr sz="1200" b="0" i="0" u="none" strike="noStrike" cap="none"/>
          </a:p>
        </p:txBody>
      </p:sp>
      <p:sp>
        <p:nvSpPr>
          <p:cNvPr id="260" name="Google Shape;260;p23"/>
          <p:cNvSpPr/>
          <p:nvPr/>
        </p:nvSpPr>
        <p:spPr>
          <a:xfrm>
            <a:off x="228600" y="3337560"/>
            <a:ext cx="8686800" cy="274200"/>
          </a:xfrm>
          <a:prstGeom prst="rect">
            <a:avLst/>
          </a:prstGeom>
          <a:solidFill>
            <a:srgbClr val="0D1B2A"/>
          </a:solidFill>
          <a:ln w="9525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365760" y="3337560"/>
            <a:ext cx="8412600" cy="274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274320" y="3291840"/>
            <a:ext cx="859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200" b="0" i="0" u="none" strike="noStrike" cap="none"/>
          </a:p>
        </p:txBody>
      </p:sp>
      <p:sp>
        <p:nvSpPr>
          <p:cNvPr id="263" name="Google Shape;263;p23"/>
          <p:cNvSpPr/>
          <p:nvPr/>
        </p:nvSpPr>
        <p:spPr>
          <a:xfrm>
            <a:off x="228600" y="3675888"/>
            <a:ext cx="384000" cy="475500"/>
          </a:xfrm>
          <a:prstGeom prst="rect">
            <a:avLst/>
          </a:prstGeom>
          <a:solidFill>
            <a:srgbClr val="0D1B3E"/>
          </a:solidFill>
          <a:ln w="9525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228600" y="3675888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137160" y="3630168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 b="0" i="0" u="none" strike="noStrike" cap="none"/>
          </a:p>
        </p:txBody>
      </p:sp>
      <p:sp>
        <p:nvSpPr>
          <p:cNvPr id="266" name="Google Shape;266;p23"/>
          <p:cNvSpPr/>
          <p:nvPr/>
        </p:nvSpPr>
        <p:spPr>
          <a:xfrm>
            <a:off x="685800" y="3712464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03993" y="3666744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A-S cuts inventory risk ~2× vs symmetric — same P&amp;L, half the std deviation.</a:t>
            </a:r>
            <a:endParaRPr sz="1200" b="0" i="0" u="none" strike="noStrike" cap="none"/>
          </a:p>
        </p:txBody>
      </p:sp>
      <p:sp>
        <p:nvSpPr>
          <p:cNvPr id="268" name="Google Shape;268;p23"/>
          <p:cNvSpPr/>
          <p:nvPr/>
        </p:nvSpPr>
        <p:spPr>
          <a:xfrm>
            <a:off x="4599432" y="3675888"/>
            <a:ext cx="384000" cy="475500"/>
          </a:xfrm>
          <a:prstGeom prst="rect">
            <a:avLst/>
          </a:prstGeom>
          <a:solidFill>
            <a:srgbClr val="0E7C7B"/>
          </a:solidFill>
          <a:ln w="9525" cap="flat" cmpd="sng">
            <a:solidFill>
              <a:srgbClr val="0E7C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4599432" y="3675888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4507992" y="3630168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 b="0" i="0" u="none" strike="noStrike" cap="none"/>
          </a:p>
        </p:txBody>
      </p:sp>
      <p:sp>
        <p:nvSpPr>
          <p:cNvPr id="271" name="Google Shape;271;p23"/>
          <p:cNvSpPr/>
          <p:nvPr/>
        </p:nvSpPr>
        <p:spPr>
          <a:xfrm>
            <a:off x="5056632" y="3712464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074825" y="3666744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GARCH + regime detection further reduce risk when market assumptions are relaxed.</a:t>
            </a:r>
            <a:endParaRPr sz="1200" b="0" i="0" u="none" strike="noStrike" cap="none"/>
          </a:p>
        </p:txBody>
      </p:sp>
      <p:sp>
        <p:nvSpPr>
          <p:cNvPr id="273" name="Google Shape;273;p23"/>
          <p:cNvSpPr/>
          <p:nvPr/>
        </p:nvSpPr>
        <p:spPr>
          <a:xfrm>
            <a:off x="228600" y="4297680"/>
            <a:ext cx="384000" cy="475500"/>
          </a:xfrm>
          <a:prstGeom prst="rect">
            <a:avLst/>
          </a:prstGeom>
          <a:solidFill>
            <a:srgbClr val="E67E22"/>
          </a:solidFill>
          <a:ln w="9525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228600" y="4297680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137160" y="4251960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 b="0" i="0" u="none" strike="noStrike" cap="none"/>
          </a:p>
        </p:txBody>
      </p:sp>
      <p:sp>
        <p:nvSpPr>
          <p:cNvPr id="276" name="Google Shape;276;p23"/>
          <p:cNvSpPr/>
          <p:nvPr/>
        </p:nvSpPr>
        <p:spPr>
          <a:xfrm>
            <a:off x="685800" y="4334256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703993" y="4288536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LOBSTER data confirms exponential λ(δ) with R²&gt;0.85 — paper parameters validated.</a:t>
            </a:r>
            <a:endParaRPr sz="1200" b="0" i="0" u="none" strike="noStrike" cap="none"/>
          </a:p>
        </p:txBody>
      </p:sp>
      <p:sp>
        <p:nvSpPr>
          <p:cNvPr id="278" name="Google Shape;278;p23"/>
          <p:cNvSpPr/>
          <p:nvPr/>
        </p:nvSpPr>
        <p:spPr>
          <a:xfrm>
            <a:off x="4599432" y="4297680"/>
            <a:ext cx="384000" cy="47550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4599432" y="4297680"/>
            <a:ext cx="384000" cy="475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4507992" y="4251960"/>
            <a:ext cx="566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 b="0" i="0" u="none" strike="noStrike" cap="none"/>
          </a:p>
        </p:txBody>
      </p:sp>
      <p:sp>
        <p:nvSpPr>
          <p:cNvPr id="281" name="Google Shape;281;p23"/>
          <p:cNvSpPr/>
          <p:nvPr/>
        </p:nvSpPr>
        <p:spPr>
          <a:xfrm>
            <a:off x="5056632" y="4334256"/>
            <a:ext cx="3749100" cy="42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074825" y="4288536"/>
            <a:ext cx="38223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Tabular RL underperforms A-S: when the analytic solution fits the environment, use it.</a:t>
            </a:r>
            <a:endParaRPr sz="1200" b="0" i="0" u="none" strike="noStrike" cap="none"/>
          </a:p>
        </p:txBody>
      </p:sp>
      <p:pic>
        <p:nvPicPr>
          <p:cNvPr id="283" name="Google Shape;283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56" y="749862"/>
            <a:ext cx="5395224" cy="2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4" descr="16x9_BG-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46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63500" dist="23000" dir="540000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4803775"/>
            <a:ext cx="1827214" cy="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600" y="125865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" sz="1800" i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https://qohmdrcktm3bqild9idtapp.streamlit.app/</a:t>
            </a:r>
            <a:endParaRPr sz="18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</Words>
  <Application>Microsoft Office PowerPoint</Application>
  <PresentationFormat>On-screen Show (16:9)</PresentationFormat>
  <Paragraphs>224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凌峰 赵</cp:lastModifiedBy>
  <cp:revision>2</cp:revision>
  <dcterms:modified xsi:type="dcterms:W3CDTF">2026-04-28T02:09:58Z</dcterms:modified>
</cp:coreProperties>
</file>