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7B33E4-BA1F-4E2E-B609-4FB069E34673}">
  <a:tblStyle styleId="{F87B33E4-BA1F-4E2E-B609-4FB069E3467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9d7d9e47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g3d9d7d9e4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d9d7d9e476_0_0:notes"/>
          <p:cNvSpPr txBox="1"/>
          <p:nvPr/>
        </p:nvSpPr>
        <p:spPr>
          <a:xfrm>
            <a:off x="3884612" y="8685212"/>
            <a:ext cx="297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fld id="{00000000-1234-1234-1234-123412341234}" type="slidenum">
              <a:rPr b="0" i="0" lang="en" sz="9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9d7d9e476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d9d7d9e476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d9d7d9e476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9d7d9e476_2_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d9d7d9e476_2_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d9d7d9e476_2_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9d7d9e476_2_4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d9d7d9e476_2_4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d9d7d9e476_2_4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9d7d9e476_2_6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d9d7d9e476_2_6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d9d7d9e476_2_6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9d7d9e476_0_15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d9d7d9e476_0_15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d9d7d9e476_0_15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9d7d9e476_0_18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d9d7d9e476_0_18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d9d7d9e476_0_18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9d7d9e476_0_20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d9d7d9e476_0_20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d9d7d9e476_0_20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9d7d9e476_0_2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g3d9d7d9e476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d9d7d9e476_0_287:notes"/>
          <p:cNvSpPr txBox="1"/>
          <p:nvPr/>
        </p:nvSpPr>
        <p:spPr>
          <a:xfrm>
            <a:off x="3884612" y="8685212"/>
            <a:ext cx="297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fld id="{00000000-1234-1234-1234-123412341234}" type="slidenum">
              <a:rPr b="0" i="0" lang="en" sz="9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400"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400"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400"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400"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400"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400"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400"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400"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400"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2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2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2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4.png"/><Relationship Id="rId5" Type="http://schemas.openxmlformats.org/officeDocument/2006/relationships/hyperlink" Target="https://qohmdrcktm3bqild9idtapp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x9_BG-02.jpg" id="63" name="Google Shape;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468629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6"/>
          <p:cNvSpPr txBox="1"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A2C64"/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800" y="4803775"/>
            <a:ext cx="1827214" cy="2222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6"/>
          <p:cNvSpPr txBox="1"/>
          <p:nvPr/>
        </p:nvSpPr>
        <p:spPr>
          <a:xfrm>
            <a:off x="600" y="1207025"/>
            <a:ext cx="91440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libri"/>
              <a:buNone/>
            </a:pPr>
            <a:r>
              <a:rPr b="1" lang="en" sz="3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Avellaneda-Stoikov (2008)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1900"/>
              <a:buFont typeface="Calibri"/>
              <a:buNone/>
            </a:pPr>
            <a:r>
              <a:rPr b="1" lang="en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Market Making: Replication, Extension &amp; RL Benchmark</a:t>
            </a:r>
            <a:endParaRPr b="1"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t/>
            </a:r>
            <a:endParaRPr i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i="1"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IEOR 4733</a:t>
            </a:r>
            <a:endParaRPr i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1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1" lang="en" sz="1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Presenters:</a:t>
            </a:r>
            <a:endParaRPr b="0" i="1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i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Katherine Pei</a:t>
            </a:r>
            <a:endParaRPr i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i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Lingfeng Zhao</a:t>
            </a:r>
            <a:endParaRPr i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i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Wenbo Gao</a:t>
            </a:r>
            <a:endParaRPr i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 txBox="1"/>
          <p:nvPr/>
        </p:nvSpPr>
        <p:spPr>
          <a:xfrm>
            <a:off x="72000" y="4721725"/>
            <a:ext cx="90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APR 2</a:t>
            </a: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2026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7"/>
          <p:cNvSpPr/>
          <p:nvPr/>
        </p:nvSpPr>
        <p:spPr>
          <a:xfrm>
            <a:off x="320040" y="0"/>
            <a:ext cx="80467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Phase 1 — Base Replication of Avellaneda &amp; Stoikov (2008)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8503920" y="164592"/>
            <a:ext cx="502920" cy="502920"/>
          </a:xfrm>
          <a:prstGeom prst="rect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7"/>
          <p:cNvSpPr/>
          <p:nvPr/>
        </p:nvSpPr>
        <p:spPr>
          <a:xfrm>
            <a:off x="8503920" y="164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228600" y="822960"/>
            <a:ext cx="420624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365760" y="87782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Core Formulas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365760" y="1161288"/>
            <a:ext cx="39319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Reservation price: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r>
              <a:rPr b="0" i="0" lang="en" sz="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Optimal spread: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8600" y="2697480"/>
            <a:ext cx="420624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365760" y="276148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Replication Results  (1000 MC paths)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2" name="Google Shape;82;p17"/>
          <p:cNvGraphicFramePr/>
          <p:nvPr/>
        </p:nvGraphicFramePr>
        <p:xfrm>
          <a:off x="365760" y="30175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{F87B33E4-BA1F-4E2E-B609-4FB069E34673}</a:tableStyleId>
              </a:tblPr>
              <a:tblGrid>
                <a:gridCol w="480575"/>
                <a:gridCol w="961150"/>
                <a:gridCol w="629100"/>
                <a:gridCol w="629100"/>
                <a:gridCol w="681525"/>
                <a:gridCol w="550475"/>
              </a:tblGrid>
              <a:tr h="28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γ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Spread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Profit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Std P&amp;L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Std q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0.01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Inventory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1.35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68.5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6A34A"/>
                          </a:solidFill>
                        </a:rPr>
                        <a:t>8.7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5.2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Symmetric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1.35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68.7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DC2626"/>
                          </a:solidFill>
                        </a:rPr>
                        <a:t>12.7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8.5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0.10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Inventory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1.49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65.0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6A34A"/>
                          </a:solidFill>
                        </a:rPr>
                        <a:t>6.4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2.9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Symmetric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1.49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68.2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DC2626"/>
                          </a:solidFill>
                        </a:rPr>
                        <a:t>12.5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8.3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1.00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Inventory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3.02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38.3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6A34A"/>
                          </a:solidFill>
                        </a:rPr>
                        <a:t>5.9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1.6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Symmetric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3.02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43.6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DC2626"/>
                          </a:solidFill>
                        </a:rPr>
                        <a:t>10.6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5.2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" name="Google Shape;83;p17"/>
          <p:cNvSpPr/>
          <p:nvPr/>
        </p:nvSpPr>
        <p:spPr>
          <a:xfrm>
            <a:off x="365760" y="4828032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Matches paper Tables 1–3 within Monte Carlo variation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663440" y="822960"/>
            <a:ext cx="4251960" cy="2377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9160" y="841248"/>
            <a:ext cx="416052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4663440" y="3291840"/>
            <a:ext cx="42519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50" y="3310123"/>
            <a:ext cx="4160526" cy="1691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 title="Screenshot 2026-04-27 at 18.14.5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325" y="1382850"/>
            <a:ext cx="2616350" cy="30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 title="Screenshot 2026-04-27 at 18.15.5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9325" y="1938975"/>
            <a:ext cx="2985244" cy="46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/>
          <p:nvPr/>
        </p:nvSpPr>
        <p:spPr>
          <a:xfrm>
            <a:off x="320040" y="0"/>
            <a:ext cx="80467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Phase 2 — GARCH(1,1) Volatility Stress Test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8503920" y="164592"/>
            <a:ext cx="502920" cy="5029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8503920" y="164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228600" y="822960"/>
            <a:ext cx="27432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365760" y="87782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365760" y="1161288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Paper assumes σ = constant.</a:t>
            </a:r>
            <a:b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 markets have vol clustering — calm followed by turbulent bursts.</a:t>
            </a:r>
            <a:b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Does A-S still work?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3108960" y="822960"/>
            <a:ext cx="27432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3246120" y="87782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GARCH(1,1)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3246125" y="1161302"/>
            <a:ext cx="2469000" cy="11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" sz="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ω=0.001  α=0.25  β=0.70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Unconditional var = ω/(1−α−β) = (2√0.005)²</a:t>
            </a:r>
            <a:br>
              <a:rPr b="0" i="0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" sz="9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Same long-run σ as paper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5989320" y="822960"/>
            <a:ext cx="292608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6126480" y="877824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Stress Test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7" name="Google Shape;107;p18"/>
          <p:cNvGraphicFramePr/>
          <p:nvPr/>
        </p:nvGraphicFramePr>
        <p:xfrm>
          <a:off x="6057955" y="1161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{F87B33E4-BA1F-4E2E-B609-4FB069E34673}</a:tableStyleId>
              </a:tblPr>
              <a:tblGrid>
                <a:gridCol w="1241250"/>
                <a:gridCol w="551675"/>
                <a:gridCol w="551675"/>
                <a:gridCol w="459725"/>
              </a:tblGrid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Agent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P&amp;L Mean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P&amp;L Std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Std q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Fixed σ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64.8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6.1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2.8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GARCH adaptive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65.3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6.7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3.2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" name="Google Shape;108;p18"/>
          <p:cNvSpPr/>
          <p:nvPr/>
        </p:nvSpPr>
        <p:spPr>
          <a:xfrm>
            <a:off x="6057943" y="2038973"/>
            <a:ext cx="265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Both agents stable — model is robust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228600" y="2377450"/>
            <a:ext cx="8686800" cy="2402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9525" y="2440963"/>
            <a:ext cx="6544925" cy="233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/>
          <p:nvPr/>
        </p:nvSpPr>
        <p:spPr>
          <a:xfrm>
            <a:off x="228600" y="4828049"/>
            <a:ext cx="8686800" cy="3156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365750" y="4882900"/>
            <a:ext cx="8686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Finding: </a:t>
            </a: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A-S strategy is robust to volatility clustering — aggregate P&amp;L and risk metrics remain stable whether σ is constant or GARCH(1,1). The inventory control mechanism works even when its core volatility assumption is violated.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8" title="Screenshot 2026-04-27 at 18.04.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6125" y="1133850"/>
            <a:ext cx="1970225" cy="41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320040" y="0"/>
            <a:ext cx="80467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Phase 3 — Real Data Calibration (LOBSTER AAPL, June 21 2012)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8503920" y="164592"/>
            <a:ext cx="502920" cy="50292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8503920" y="164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228600" y="822960"/>
            <a:ext cx="420624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365760" y="87782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Arrival Intensity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365760" y="1161288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t/>
            </a:r>
            <a:endParaRPr b="0" baseline="30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δ = distance of limit order from mid-price  | A = baseline rate  | k = decay speed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228600" y="2176272"/>
            <a:ext cx="420624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365750" y="2231125"/>
            <a:ext cx="3822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LOBSTER AAPL 2012-06-21  ·  </a:t>
            </a: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34,186 executions  ·  23,400 sec trading window</a:t>
            </a:r>
            <a:b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17 log-spaced bins  ·  δ range: 0.005–0.136  ·  rate range: 0.76–111.27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228600" y="3127250"/>
            <a:ext cx="4150200" cy="187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/>
          <p:nvPr/>
        </p:nvSpPr>
        <p:spPr>
          <a:xfrm>
            <a:off x="365760" y="319125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Calibration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" name="Google Shape;130;p19"/>
          <p:cNvGraphicFramePr/>
          <p:nvPr/>
        </p:nvGraphicFramePr>
        <p:xfrm>
          <a:off x="365760" y="3474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{F87B33E4-BA1F-4E2E-B609-4FB069E34673}</a:tableStyleId>
              </a:tblPr>
              <a:tblGrid>
                <a:gridCol w="1051550"/>
                <a:gridCol w="594350"/>
                <a:gridCol w="685800"/>
                <a:gridCol w="640075"/>
                <a:gridCol w="960125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R²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vs Paper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Exponential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6A34A"/>
                          </a:solidFill>
                        </a:rPr>
                        <a:t>136.6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000000"/>
                          </a:solidFill>
                        </a:rPr>
                        <a:t>59.47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6A34A"/>
                          </a:solidFill>
                        </a:rPr>
                        <a:t>0.924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A matches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Power-law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0.2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α=1.32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DC2626"/>
                          </a:solidFill>
                        </a:rPr>
                        <a:t>0.357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Loses clearly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64748B"/>
                          </a:solidFill>
                        </a:rPr>
                        <a:t>Paper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140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1.5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Reference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" name="Google Shape;131;p19"/>
          <p:cNvSpPr/>
          <p:nvPr/>
        </p:nvSpPr>
        <p:spPr>
          <a:xfrm>
            <a:off x="230175" y="4645150"/>
            <a:ext cx="4443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Why k differs: </a:t>
            </a: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AAPL quotes in cent-scale increments (δ range 0.005–0.14 $). Paper assumed dollar-scale δ. When rescaled to same units, both estimates are</a:t>
            </a:r>
            <a:r>
              <a:rPr lang="en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consistent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4485850" y="822950"/>
            <a:ext cx="4658100" cy="4206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5850" y="822975"/>
            <a:ext cx="4658101" cy="420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 title="Screenshot 2026-04-27 at 18.13.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900" y="1133850"/>
            <a:ext cx="1414500" cy="35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320040" y="0"/>
            <a:ext cx="80467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Phase 4 — Multi-Asset Extension: AAPL × AMZN Correlation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8503920" y="164592"/>
            <a:ext cx="502920" cy="5029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8503920" y="164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0" y="832100"/>
            <a:ext cx="40233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0"/>
          <p:cNvSpPr/>
          <p:nvPr/>
        </p:nvSpPr>
        <p:spPr>
          <a:xfrm>
            <a:off x="365760" y="87782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Multi-Asset Reservation Price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137222" y="1176775"/>
            <a:ext cx="39318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" sz="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t/>
            </a:r>
            <a:endParaRPr i="1" sz="950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t/>
            </a:r>
            <a:endParaRPr i="1" sz="950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t/>
            </a:r>
            <a:endParaRPr i="1" sz="950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t/>
            </a:r>
            <a:endParaRPr i="1" sz="950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t/>
            </a:r>
            <a:endParaRPr i="1" sz="950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Cross term ρσ₁σ₂·q₂ is absent from single-asset 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25" y="2734075"/>
            <a:ext cx="4023300" cy="53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/>
          <p:nvPr/>
        </p:nvSpPr>
        <p:spPr>
          <a:xfrm>
            <a:off x="84910" y="2747765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Realized AAPL/AMZN ρ = 0.497  ·  </a:t>
            </a: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σ_AAPL = 5.42  ·  σ_AMZN = 3.38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137222" y="3057647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Sanity check ρ=0 → PASS (collapses to single-asset formula exactly)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50" y="3404575"/>
            <a:ext cx="4023300" cy="157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84910" y="3419864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Effect of ρ on Reservation Prices  (q=[2,−1], t=0)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20"/>
          <p:cNvGraphicFramePr/>
          <p:nvPr/>
        </p:nvGraphicFramePr>
        <p:xfrm>
          <a:off x="10" y="36757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{F87B33E4-BA1F-4E2E-B609-4FB069E34673}</a:tableStyleId>
              </a:tblPr>
              <a:tblGrid>
                <a:gridCol w="851475"/>
                <a:gridCol w="1064325"/>
                <a:gridCol w="1064325"/>
                <a:gridCol w="1043175"/>
              </a:tblGrid>
              <a:tr h="21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ρ assumed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r₁ (AAPL)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r₂ (AMZN)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Note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</a:tr>
              <a:tr h="22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−0.50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93.22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52.97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0.00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94.13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51.14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single-asset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000000"/>
                          </a:solidFill>
                        </a:rPr>
                        <a:t>0.50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6A34A"/>
                          </a:solidFill>
                        </a:rPr>
                        <a:t>95.05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6A34A"/>
                          </a:solidFill>
                        </a:rPr>
                        <a:t>49.31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8B8D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0F8B8D"/>
                          </a:solidFill>
                        </a:rPr>
                        <a:t>← realized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0.90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95.78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</a:rPr>
                        <a:t>47.85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" name="Google Shape;153;p20"/>
          <p:cNvSpPr/>
          <p:nvPr/>
        </p:nvSpPr>
        <p:spPr>
          <a:xfrm>
            <a:off x="4069025" y="832100"/>
            <a:ext cx="5075100" cy="406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8900" y="850800"/>
            <a:ext cx="5075098" cy="3800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/>
          <p:nvPr/>
        </p:nvSpPr>
        <p:spPr>
          <a:xfrm>
            <a:off x="84900" y="5001768"/>
            <a:ext cx="8686800" cy="11880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10" y="5005093"/>
            <a:ext cx="84126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Misspecification cost = γ(T−t) · |ρₜᵣᵘᵉ − ρᵘᵢᵢᵉ| · σ₁ · σ₂ · |q₂|</a:t>
            </a: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 AAPL/AMZN (ρ=0.497): 0.455 price units     vs     AAPL morn/aft (ρ≈0): ≈0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20" title="Screenshot 2026-04-27 at 18.11.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500" y="1093600"/>
            <a:ext cx="1789875" cy="11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/>
          <p:nvPr/>
        </p:nvSpPr>
        <p:spPr>
          <a:xfrm>
            <a:off x="0" y="0"/>
            <a:ext cx="9144000" cy="713400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320040" y="0"/>
            <a:ext cx="8046600" cy="71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/>
          <p:nvPr/>
        </p:nvSpPr>
        <p:spPr>
          <a:xfrm>
            <a:off x="320040" y="0"/>
            <a:ext cx="8046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is Reinforcement Learning (RL)? — Phase 5</a:t>
            </a:r>
            <a:endParaRPr b="0" i="0" sz="1200" u="none" cap="none" strike="noStrike"/>
          </a:p>
        </p:txBody>
      </p:sp>
      <p:sp>
        <p:nvSpPr>
          <p:cNvPr id="166" name="Google Shape;166;p21"/>
          <p:cNvSpPr/>
          <p:nvPr/>
        </p:nvSpPr>
        <p:spPr>
          <a:xfrm>
            <a:off x="8503920" y="164592"/>
            <a:ext cx="502800" cy="502800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8503920" y="164592"/>
            <a:ext cx="502800" cy="502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1"/>
          <p:cNvSpPr/>
          <p:nvPr/>
        </p:nvSpPr>
        <p:spPr>
          <a:xfrm>
            <a:off x="8412480" y="118872"/>
            <a:ext cx="6858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P5</a:t>
            </a:r>
            <a:endParaRPr b="0" i="0" sz="1200" u="none" cap="none" strike="noStrike"/>
          </a:p>
        </p:txBody>
      </p:sp>
      <p:sp>
        <p:nvSpPr>
          <p:cNvPr id="169" name="Google Shape;169;p21"/>
          <p:cNvSpPr/>
          <p:nvPr/>
        </p:nvSpPr>
        <p:spPr>
          <a:xfrm>
            <a:off x="228600" y="822960"/>
            <a:ext cx="4206300" cy="173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18900000" dist="13430">
              <a:srgbClr val="000000">
                <a:alpha val="98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365760" y="877824"/>
            <a:ext cx="39318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RL Introduction</a:t>
            </a:r>
            <a:endParaRPr b="0" i="0" sz="1200" u="none" cap="none" strike="noStrike"/>
          </a:p>
        </p:txBody>
      </p:sp>
      <p:sp>
        <p:nvSpPr>
          <p:cNvPr id="171" name="Google Shape;171;p21"/>
          <p:cNvSpPr/>
          <p:nvPr/>
        </p:nvSpPr>
        <p:spPr>
          <a:xfrm>
            <a:off x="365760" y="1161288"/>
            <a:ext cx="39318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RL is a learning paradigm where an Agent interacts with an Environment to maximise long-term reward.</a:t>
            </a:r>
            <a:endParaRPr b="0"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Core loop:</a:t>
            </a:r>
            <a:endParaRPr b="0"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Agent ── action ──► Environment</a:t>
            </a:r>
            <a:endParaRPr b="0"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Agent ◄── state, reward ── Environment</a:t>
            </a:r>
            <a:endParaRPr b="0" i="0" sz="1200" u="none" cap="none" strike="noStrike"/>
          </a:p>
        </p:txBody>
      </p:sp>
      <p:sp>
        <p:nvSpPr>
          <p:cNvPr id="172" name="Google Shape;172;p21"/>
          <p:cNvSpPr/>
          <p:nvPr/>
        </p:nvSpPr>
        <p:spPr>
          <a:xfrm>
            <a:off x="4709160" y="822960"/>
            <a:ext cx="4206300" cy="173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18900000" dist="13430">
              <a:srgbClr val="000000">
                <a:alpha val="98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4846320" y="877824"/>
            <a:ext cx="39318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What problems does RL solve?</a:t>
            </a:r>
            <a:endParaRPr b="0" i="0" sz="1200" u="none" cap="none" strike="noStrike"/>
          </a:p>
        </p:txBody>
      </p:sp>
      <p:sp>
        <p:nvSpPr>
          <p:cNvPr id="174" name="Google Shape;174;p21"/>
          <p:cNvSpPr/>
          <p:nvPr/>
        </p:nvSpPr>
        <p:spPr>
          <a:xfrm>
            <a:off x="4846320" y="1161288"/>
            <a:ext cx="39318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RL works when:</a:t>
            </a:r>
            <a:endParaRPr b="0"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Environment is unknown</a:t>
            </a:r>
            <a:endParaRPr b="0"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Decisions affect future states</a:t>
            </a:r>
            <a:endParaRPr b="0"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Reward arrives with delay</a:t>
            </a:r>
            <a:endParaRPr b="0"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Optimal action depends on context</a:t>
            </a:r>
            <a:endParaRPr b="0" i="0" sz="1200" u="none" cap="none" strike="noStrike"/>
          </a:p>
        </p:txBody>
      </p:sp>
      <p:sp>
        <p:nvSpPr>
          <p:cNvPr id="175" name="Google Shape;175;p21"/>
          <p:cNvSpPr/>
          <p:nvPr/>
        </p:nvSpPr>
        <p:spPr>
          <a:xfrm>
            <a:off x="228600" y="2697480"/>
            <a:ext cx="4206300" cy="173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18900000" dist="13430">
              <a:srgbClr val="000000">
                <a:alpha val="98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365760" y="2761488"/>
            <a:ext cx="39318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Why RL fits Market Making</a:t>
            </a:r>
            <a:endParaRPr b="0" i="0" sz="1200" u="none" cap="none" strike="noStrike"/>
          </a:p>
        </p:txBody>
      </p:sp>
      <p:sp>
        <p:nvSpPr>
          <p:cNvPr id="177" name="Google Shape;177;p21"/>
          <p:cNvSpPr/>
          <p:nvPr/>
        </p:nvSpPr>
        <p:spPr>
          <a:xfrm>
            <a:off x="365760" y="3017520"/>
            <a:ext cx="3931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Market making is a textbook sequential decision problem.</a:t>
            </a:r>
            <a:endParaRPr b="0"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Sequential nature:</a:t>
            </a:r>
            <a:endParaRPr b="0"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Today's quote affects tomorrow's inventory</a:t>
            </a:r>
            <a:endParaRPr b="0"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Inventory affects tomorrow's quote</a:t>
            </a:r>
            <a:endParaRPr b="0"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Decisions cannot be made in isolation</a:t>
            </a:r>
            <a:endParaRPr b="0" i="0" sz="1200" u="none" cap="none" strike="noStrike"/>
          </a:p>
        </p:txBody>
      </p:sp>
      <p:sp>
        <p:nvSpPr>
          <p:cNvPr id="178" name="Google Shape;178;p21"/>
          <p:cNvSpPr/>
          <p:nvPr/>
        </p:nvSpPr>
        <p:spPr>
          <a:xfrm>
            <a:off x="4709160" y="2697480"/>
            <a:ext cx="4206300" cy="173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18900000" dist="13430">
              <a:srgbClr val="000000">
                <a:alpha val="98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4846320" y="2761488"/>
            <a:ext cx="39318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Why use RL here?</a:t>
            </a:r>
            <a:endParaRPr b="0" i="0" sz="1200" u="none" cap="none" strike="noStrike"/>
          </a:p>
        </p:txBody>
      </p:sp>
      <p:sp>
        <p:nvSpPr>
          <p:cNvPr id="180" name="Google Shape;180;p21"/>
          <p:cNvSpPr/>
          <p:nvPr/>
        </p:nvSpPr>
        <p:spPr>
          <a:xfrm>
            <a:off x="4846320" y="3017520"/>
            <a:ext cx="3931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A-S gives the analytic optimum — but only under strong assumptions.</a:t>
            </a:r>
            <a:endParaRPr b="0"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Model-free RL algorithm offers a method withous assumptions. It can be a benchmark algorithm for comparison.</a:t>
            </a:r>
            <a:endParaRPr b="0" i="0" sz="1200" u="none" cap="none" strike="noStrike"/>
          </a:p>
        </p:txBody>
      </p:sp>
      <p:sp>
        <p:nvSpPr>
          <p:cNvPr id="181" name="Google Shape;181;p21"/>
          <p:cNvSpPr/>
          <p:nvPr/>
        </p:nvSpPr>
        <p:spPr>
          <a:xfrm>
            <a:off x="228600" y="4572000"/>
            <a:ext cx="8686800" cy="384000"/>
          </a:xfrm>
          <a:prstGeom prst="rect">
            <a:avLst/>
          </a:prstGeom>
          <a:solidFill>
            <a:srgbClr val="EDE9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18900000" dist="13430">
              <a:srgbClr val="000000">
                <a:alpha val="98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365760" y="4572000"/>
            <a:ext cx="8412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RL is not meant to replace A-S — it is a learning-based stress test that probes whether the analytic solution remains optimal when reality breaks the model's assumptions.</a:t>
            </a:r>
            <a:endParaRPr b="0" i="0" sz="1200" u="none" cap="none" strike="noStrike"/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013500"/>
            <a:ext cx="3931800" cy="330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/>
          <p:nvPr/>
        </p:nvSpPr>
        <p:spPr>
          <a:xfrm>
            <a:off x="0" y="0"/>
            <a:ext cx="9144000" cy="713400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320040" y="0"/>
            <a:ext cx="8046600" cy="71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320040" y="0"/>
            <a:ext cx="8046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Reinforcement Learning Benchmark Setup — Phase 5</a:t>
            </a:r>
            <a:endParaRPr b="0" i="0" sz="1200" u="none" cap="none" strike="noStrike"/>
          </a:p>
        </p:txBody>
      </p:sp>
      <p:sp>
        <p:nvSpPr>
          <p:cNvPr id="192" name="Google Shape;192;p22"/>
          <p:cNvSpPr/>
          <p:nvPr/>
        </p:nvSpPr>
        <p:spPr>
          <a:xfrm>
            <a:off x="8503920" y="164592"/>
            <a:ext cx="502800" cy="502800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8503920" y="164592"/>
            <a:ext cx="502800" cy="502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8412480" y="118872"/>
            <a:ext cx="6858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P5</a:t>
            </a:r>
            <a:endParaRPr b="0" i="0" sz="1200" u="none" cap="none" strike="noStrike"/>
          </a:p>
        </p:txBody>
      </p:sp>
      <p:sp>
        <p:nvSpPr>
          <p:cNvPr id="195" name="Google Shape;195;p22"/>
          <p:cNvSpPr/>
          <p:nvPr/>
        </p:nvSpPr>
        <p:spPr>
          <a:xfrm>
            <a:off x="228600" y="822960"/>
            <a:ext cx="4206300" cy="1238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18900000" dist="13430">
              <a:srgbClr val="000000">
                <a:alpha val="98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365760" y="877824"/>
            <a:ext cx="39318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State Space (330 states)</a:t>
            </a:r>
            <a:endParaRPr b="0" i="0" sz="1200" u="none" cap="none" strike="noStrike"/>
          </a:p>
        </p:txBody>
      </p:sp>
      <p:sp>
        <p:nvSpPr>
          <p:cNvPr id="197" name="Google Shape;197;p22"/>
          <p:cNvSpPr/>
          <p:nvPr/>
        </p:nvSpPr>
        <p:spPr>
          <a:xfrm>
            <a:off x="365760" y="1161288"/>
            <a:ext cx="39318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Inventory q ∈ [−5,5] ×</a:t>
            </a:r>
            <a:endParaRPr b="0"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Time bucket (10 steps) ×</a:t>
            </a:r>
            <a:endParaRPr b="0"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Vol regime: low / normal / high</a:t>
            </a:r>
            <a:endParaRPr b="0" i="0" sz="1200" u="none" cap="none" strike="noStrike"/>
          </a:p>
        </p:txBody>
      </p:sp>
      <p:sp>
        <p:nvSpPr>
          <p:cNvPr id="198" name="Google Shape;198;p22"/>
          <p:cNvSpPr/>
          <p:nvPr/>
        </p:nvSpPr>
        <p:spPr>
          <a:xfrm>
            <a:off x="4709160" y="822960"/>
            <a:ext cx="4206300" cy="1238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18900000" dist="13430">
              <a:srgbClr val="000000">
                <a:alpha val="98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4846320" y="877824"/>
            <a:ext cx="39318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Action Space (25 actions)</a:t>
            </a:r>
            <a:endParaRPr b="0" i="0" sz="1200" u="none" cap="none" strike="noStrike"/>
          </a:p>
        </p:txBody>
      </p:sp>
      <p:sp>
        <p:nvSpPr>
          <p:cNvPr id="200" name="Google Shape;200;p22"/>
          <p:cNvSpPr/>
          <p:nvPr/>
        </p:nvSpPr>
        <p:spPr>
          <a:xfrm>
            <a:off x="4846320" y="1161288"/>
            <a:ext cx="39318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δᵃ, δᵇ ∈ {0.10, 0.30, 0.50, 0.80, 1.20}</a:t>
            </a:r>
            <a:endParaRPr b="0"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 combinations → 5×5 grid</a:t>
            </a:r>
            <a:endParaRPr b="0"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Tabular Q-table: 330 × 25</a:t>
            </a:r>
            <a:endParaRPr b="0" i="0" sz="1200" u="none" cap="none" strike="noStrike"/>
          </a:p>
        </p:txBody>
      </p:sp>
      <p:sp>
        <p:nvSpPr>
          <p:cNvPr id="201" name="Google Shape;201;p22"/>
          <p:cNvSpPr/>
          <p:nvPr/>
        </p:nvSpPr>
        <p:spPr>
          <a:xfrm>
            <a:off x="228600" y="2286000"/>
            <a:ext cx="4206300" cy="1238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18900000" dist="13430">
              <a:srgbClr val="000000">
                <a:alpha val="98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365760" y="2350008"/>
            <a:ext cx="39318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Reward Function</a:t>
            </a:r>
            <a:endParaRPr b="0" i="0" sz="1200" u="none" cap="none" strike="noStrike"/>
          </a:p>
        </p:txBody>
      </p:sp>
      <p:sp>
        <p:nvSpPr>
          <p:cNvPr id="203" name="Google Shape;203;p22"/>
          <p:cNvSpPr/>
          <p:nvPr/>
        </p:nvSpPr>
        <p:spPr>
          <a:xfrm>
            <a:off x="365760" y="2624328"/>
            <a:ext cx="39318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Δwealth − penalty·q²·dt</a:t>
            </a:r>
            <a:endParaRPr b="0"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Inventory penalty prevents the agent from simply taking directional bets</a:t>
            </a:r>
            <a:endParaRPr b="0" i="0" sz="1200" u="none" cap="none" strike="noStrike"/>
          </a:p>
        </p:txBody>
      </p:sp>
      <p:sp>
        <p:nvSpPr>
          <p:cNvPr id="204" name="Google Shape;204;p22"/>
          <p:cNvSpPr/>
          <p:nvPr/>
        </p:nvSpPr>
        <p:spPr>
          <a:xfrm>
            <a:off x="4709160" y="2286000"/>
            <a:ext cx="4206300" cy="1238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18900000" dist="13430">
              <a:srgbClr val="000000">
                <a:alpha val="98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4846320" y="2350008"/>
            <a:ext cx="39318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b="0" i="0" sz="1200" u="none" cap="none" strike="noStrike"/>
          </a:p>
        </p:txBody>
      </p:sp>
      <p:sp>
        <p:nvSpPr>
          <p:cNvPr id="206" name="Google Shape;206;p22"/>
          <p:cNvSpPr/>
          <p:nvPr/>
        </p:nvSpPr>
        <p:spPr>
          <a:xfrm>
            <a:off x="4846320" y="2624328"/>
            <a:ext cx="39318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5,000 episodes on MarketSimulator</a:t>
            </a:r>
            <a:endParaRPr b="0"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= 136.6 (LOBSTER-calibrated)</a:t>
            </a:r>
            <a:endParaRPr b="0"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ε-greedy: 0.30 → 0.02 decay</a:t>
            </a:r>
            <a:endParaRPr b="0" i="0" sz="1200" u="none" cap="none" strike="noStrike"/>
          </a:p>
        </p:txBody>
      </p:sp>
      <p:sp>
        <p:nvSpPr>
          <p:cNvPr id="207" name="Google Shape;207;p22"/>
          <p:cNvSpPr/>
          <p:nvPr/>
        </p:nvSpPr>
        <p:spPr>
          <a:xfrm>
            <a:off x="228600" y="3714750"/>
            <a:ext cx="8686800" cy="381000"/>
          </a:xfrm>
          <a:prstGeom prst="rect">
            <a:avLst/>
          </a:prstGeom>
          <a:solidFill>
            <a:srgbClr val="EDE9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18900000" dist="13430">
              <a:srgbClr val="000000">
                <a:alpha val="98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365760" y="3714750"/>
            <a:ext cx="8412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Why tabular Q-learning? Simple, interpretable, and sufficient to test whether model-free RL can match an analytic solution.</a:t>
            </a:r>
            <a:endParaRPr b="0" i="0" sz="12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320040" y="0"/>
            <a:ext cx="8046600" cy="71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320040" y="0"/>
            <a:ext cx="8046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Real-Data Backtest + Key Takeaways — Phase 5 &amp; RL</a:t>
            </a:r>
            <a:endParaRPr b="0" i="0" sz="1200" u="none" cap="none" strike="noStrike"/>
          </a:p>
        </p:txBody>
      </p:sp>
      <p:sp>
        <p:nvSpPr>
          <p:cNvPr id="217" name="Google Shape;217;p23"/>
          <p:cNvSpPr/>
          <p:nvPr/>
        </p:nvSpPr>
        <p:spPr>
          <a:xfrm>
            <a:off x="8503920" y="164592"/>
            <a:ext cx="502800" cy="502800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8412480" y="118872"/>
            <a:ext cx="6858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P5</a:t>
            </a:r>
            <a:endParaRPr b="0" i="0" sz="1200" u="none" cap="none" strike="noStrike"/>
          </a:p>
        </p:txBody>
      </p:sp>
      <p:sp>
        <p:nvSpPr>
          <p:cNvPr id="219" name="Google Shape;219;p23"/>
          <p:cNvSpPr/>
          <p:nvPr/>
        </p:nvSpPr>
        <p:spPr>
          <a:xfrm>
            <a:off x="5806440" y="777240"/>
            <a:ext cx="3108900" cy="24507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18900000" dist="13430">
              <a:srgbClr val="00000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3"/>
          <p:cNvSpPr/>
          <p:nvPr/>
        </p:nvSpPr>
        <p:spPr>
          <a:xfrm>
            <a:off x="5806440" y="777240"/>
            <a:ext cx="3108900" cy="347400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5916168" y="777240"/>
            <a:ext cx="2926200" cy="347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5824728" y="731520"/>
            <a:ext cx="310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AAPL Real-Data Results</a:t>
            </a:r>
            <a:endParaRPr b="0" i="0" sz="1200" u="none" cap="none" strike="noStrike"/>
          </a:p>
        </p:txBody>
      </p:sp>
      <p:sp>
        <p:nvSpPr>
          <p:cNvPr id="223" name="Google Shape;223;p23"/>
          <p:cNvSpPr/>
          <p:nvPr/>
        </p:nvSpPr>
        <p:spPr>
          <a:xfrm>
            <a:off x="5852160" y="1152144"/>
            <a:ext cx="1234500" cy="457200"/>
          </a:xfrm>
          <a:prstGeom prst="rect">
            <a:avLst/>
          </a:prstGeom>
          <a:solidFill>
            <a:srgbClr val="0D1B3E"/>
          </a:solidFill>
          <a:ln cap="flat" cmpd="sng" w="7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5888736" y="1152144"/>
            <a:ext cx="11613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5916168" y="1124617"/>
            <a:ext cx="1344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 b="0" i="0" sz="1200" u="none" cap="none" strike="noStrike"/>
          </a:p>
        </p:txBody>
      </p:sp>
      <p:sp>
        <p:nvSpPr>
          <p:cNvPr id="226" name="Google Shape;226;p23"/>
          <p:cNvSpPr/>
          <p:nvPr/>
        </p:nvSpPr>
        <p:spPr>
          <a:xfrm>
            <a:off x="7114032" y="1152144"/>
            <a:ext cx="914400" cy="457200"/>
          </a:xfrm>
          <a:prstGeom prst="rect">
            <a:avLst/>
          </a:prstGeom>
          <a:solidFill>
            <a:srgbClr val="0D1B3E"/>
          </a:solidFill>
          <a:ln cap="flat" cmpd="sng" w="7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3"/>
          <p:cNvSpPr/>
          <p:nvPr/>
        </p:nvSpPr>
        <p:spPr>
          <a:xfrm>
            <a:off x="7150608" y="1152144"/>
            <a:ext cx="841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/>
          <p:nvPr/>
        </p:nvSpPr>
        <p:spPr>
          <a:xfrm>
            <a:off x="7150608" y="1124617"/>
            <a:ext cx="10239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P&amp;L</a:t>
            </a:r>
            <a:endParaRPr b="0" i="0" sz="1200" u="none" cap="none" strike="noStrike"/>
          </a:p>
        </p:txBody>
      </p:sp>
      <p:sp>
        <p:nvSpPr>
          <p:cNvPr id="229" name="Google Shape;229;p23"/>
          <p:cNvSpPr/>
          <p:nvPr/>
        </p:nvSpPr>
        <p:spPr>
          <a:xfrm>
            <a:off x="8055864" y="1152144"/>
            <a:ext cx="822900" cy="457200"/>
          </a:xfrm>
          <a:prstGeom prst="rect">
            <a:avLst/>
          </a:prstGeom>
          <a:solidFill>
            <a:srgbClr val="0D1B3E"/>
          </a:solidFill>
          <a:ln cap="flat" cmpd="sng" w="7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8092440" y="1152144"/>
            <a:ext cx="7497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8165687" y="1124617"/>
            <a:ext cx="932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Sharpe</a:t>
            </a:r>
            <a:endParaRPr b="0" i="0" sz="1200" u="none" cap="none" strike="noStrike"/>
          </a:p>
        </p:txBody>
      </p:sp>
      <p:sp>
        <p:nvSpPr>
          <p:cNvPr id="232" name="Google Shape;232;p23"/>
          <p:cNvSpPr/>
          <p:nvPr/>
        </p:nvSpPr>
        <p:spPr>
          <a:xfrm>
            <a:off x="5852160" y="1627632"/>
            <a:ext cx="1234500" cy="457200"/>
          </a:xfrm>
          <a:prstGeom prst="rect">
            <a:avLst/>
          </a:prstGeom>
          <a:solidFill>
            <a:srgbClr val="E8F0FA"/>
          </a:solidFill>
          <a:ln cap="flat" cmpd="sng" w="7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5888736" y="1627632"/>
            <a:ext cx="11613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5916168" y="1609344"/>
            <a:ext cx="1344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A-S Inv.</a:t>
            </a:r>
            <a:endParaRPr b="0" i="0" sz="1200" u="none" cap="none" strike="noStrike"/>
          </a:p>
        </p:txBody>
      </p:sp>
      <p:sp>
        <p:nvSpPr>
          <p:cNvPr id="235" name="Google Shape;235;p23"/>
          <p:cNvSpPr/>
          <p:nvPr/>
        </p:nvSpPr>
        <p:spPr>
          <a:xfrm>
            <a:off x="7114032" y="1627632"/>
            <a:ext cx="914400" cy="457200"/>
          </a:xfrm>
          <a:prstGeom prst="rect">
            <a:avLst/>
          </a:prstGeom>
          <a:solidFill>
            <a:srgbClr val="E8F0FA"/>
          </a:solidFill>
          <a:ln cap="flat" cmpd="sng" w="7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7150608" y="1627632"/>
            <a:ext cx="841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7150608" y="1609344"/>
            <a:ext cx="10239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~530</a:t>
            </a:r>
            <a:endParaRPr b="0" i="0" sz="1200" u="none" cap="none" strike="noStrike"/>
          </a:p>
        </p:txBody>
      </p:sp>
      <p:sp>
        <p:nvSpPr>
          <p:cNvPr id="238" name="Google Shape;238;p23"/>
          <p:cNvSpPr/>
          <p:nvPr/>
        </p:nvSpPr>
        <p:spPr>
          <a:xfrm>
            <a:off x="8055864" y="1627632"/>
            <a:ext cx="822900" cy="457200"/>
          </a:xfrm>
          <a:prstGeom prst="rect">
            <a:avLst/>
          </a:prstGeom>
          <a:solidFill>
            <a:srgbClr val="E8F0FA"/>
          </a:solidFill>
          <a:ln cap="flat" cmpd="sng" w="7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8092440" y="1627632"/>
            <a:ext cx="7497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8074247" y="1609344"/>
            <a:ext cx="932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~14.3</a:t>
            </a:r>
            <a:endParaRPr b="0" i="0" sz="1200" u="none" cap="none" strike="noStrike"/>
          </a:p>
        </p:txBody>
      </p:sp>
      <p:sp>
        <p:nvSpPr>
          <p:cNvPr id="241" name="Google Shape;241;p23"/>
          <p:cNvSpPr/>
          <p:nvPr/>
        </p:nvSpPr>
        <p:spPr>
          <a:xfrm>
            <a:off x="5852160" y="2103120"/>
            <a:ext cx="1234500" cy="4572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5888736" y="2103120"/>
            <a:ext cx="11613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5916168" y="2084832"/>
            <a:ext cx="1344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Symmetric</a:t>
            </a:r>
            <a:endParaRPr b="0" i="0" sz="1200" u="none" cap="none" strike="noStrike"/>
          </a:p>
        </p:txBody>
      </p:sp>
      <p:sp>
        <p:nvSpPr>
          <p:cNvPr id="244" name="Google Shape;244;p23"/>
          <p:cNvSpPr/>
          <p:nvPr/>
        </p:nvSpPr>
        <p:spPr>
          <a:xfrm>
            <a:off x="7114032" y="2103120"/>
            <a:ext cx="914400" cy="4572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7150608" y="2103120"/>
            <a:ext cx="841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7150608" y="2084832"/>
            <a:ext cx="10239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~530</a:t>
            </a:r>
            <a:endParaRPr b="0" i="0" sz="1200" u="none" cap="none" strike="noStrike"/>
          </a:p>
        </p:txBody>
      </p:sp>
      <p:sp>
        <p:nvSpPr>
          <p:cNvPr id="247" name="Google Shape;247;p23"/>
          <p:cNvSpPr/>
          <p:nvPr/>
        </p:nvSpPr>
        <p:spPr>
          <a:xfrm>
            <a:off x="8055864" y="2103120"/>
            <a:ext cx="822900" cy="4572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8092440" y="2103120"/>
            <a:ext cx="7497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8074247" y="2084832"/>
            <a:ext cx="932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~14.3</a:t>
            </a:r>
            <a:endParaRPr b="0" i="0" sz="1200" u="none" cap="none" strike="noStrike"/>
          </a:p>
        </p:txBody>
      </p:sp>
      <p:sp>
        <p:nvSpPr>
          <p:cNvPr id="250" name="Google Shape;250;p23"/>
          <p:cNvSpPr/>
          <p:nvPr/>
        </p:nvSpPr>
        <p:spPr>
          <a:xfrm>
            <a:off x="5852160" y="2578608"/>
            <a:ext cx="1234500" cy="457200"/>
          </a:xfrm>
          <a:prstGeom prst="rect">
            <a:avLst/>
          </a:prstGeom>
          <a:solidFill>
            <a:srgbClr val="FDECEA"/>
          </a:solidFill>
          <a:ln cap="flat" cmpd="sng" w="7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5888736" y="2578608"/>
            <a:ext cx="11613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5916168" y="2560320"/>
            <a:ext cx="1344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RL Agent</a:t>
            </a:r>
            <a:endParaRPr b="0" i="0" sz="1200" u="none" cap="none" strike="noStrike"/>
          </a:p>
        </p:txBody>
      </p:sp>
      <p:sp>
        <p:nvSpPr>
          <p:cNvPr id="253" name="Google Shape;253;p23"/>
          <p:cNvSpPr/>
          <p:nvPr/>
        </p:nvSpPr>
        <p:spPr>
          <a:xfrm>
            <a:off x="7114032" y="2578608"/>
            <a:ext cx="914400" cy="457200"/>
          </a:xfrm>
          <a:prstGeom prst="rect">
            <a:avLst/>
          </a:prstGeom>
          <a:solidFill>
            <a:srgbClr val="FDECEA"/>
          </a:solidFill>
          <a:ln cap="flat" cmpd="sng" w="7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7150608" y="2578608"/>
            <a:ext cx="841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7150608" y="2560320"/>
            <a:ext cx="10239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~460</a:t>
            </a:r>
            <a:endParaRPr b="0" i="0" sz="1200" u="none" cap="none" strike="noStrike"/>
          </a:p>
        </p:txBody>
      </p:sp>
      <p:sp>
        <p:nvSpPr>
          <p:cNvPr id="256" name="Google Shape;256;p23"/>
          <p:cNvSpPr/>
          <p:nvPr/>
        </p:nvSpPr>
        <p:spPr>
          <a:xfrm>
            <a:off x="8055864" y="2578608"/>
            <a:ext cx="822900" cy="457200"/>
          </a:xfrm>
          <a:prstGeom prst="rect">
            <a:avLst/>
          </a:prstGeom>
          <a:solidFill>
            <a:srgbClr val="FDECEA"/>
          </a:solidFill>
          <a:ln cap="flat" cmpd="sng" w="7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8092440" y="2578608"/>
            <a:ext cx="7497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8037623" y="2560320"/>
            <a:ext cx="932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~12.5</a:t>
            </a:r>
            <a:endParaRPr b="0" i="0" sz="1200" u="none" cap="none" strike="noStrike"/>
          </a:p>
        </p:txBody>
      </p:sp>
      <p:sp>
        <p:nvSpPr>
          <p:cNvPr id="259" name="Google Shape;259;p23"/>
          <p:cNvSpPr/>
          <p:nvPr/>
        </p:nvSpPr>
        <p:spPr>
          <a:xfrm>
            <a:off x="5806440" y="2962656"/>
            <a:ext cx="3108900" cy="255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5715000" y="2916936"/>
            <a:ext cx="329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RL underperforms A-S by ~13% P&amp;L</a:t>
            </a:r>
            <a:endParaRPr b="0" i="0" sz="1200" u="none" cap="none" strike="noStrike"/>
          </a:p>
        </p:txBody>
      </p:sp>
      <p:sp>
        <p:nvSpPr>
          <p:cNvPr id="261" name="Google Shape;261;p23"/>
          <p:cNvSpPr/>
          <p:nvPr/>
        </p:nvSpPr>
        <p:spPr>
          <a:xfrm>
            <a:off x="228600" y="3337560"/>
            <a:ext cx="8686800" cy="27420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365760" y="3337560"/>
            <a:ext cx="8412600" cy="274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274320" y="3291840"/>
            <a:ext cx="859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1200" u="none" cap="none" strike="noStrike"/>
          </a:p>
        </p:txBody>
      </p:sp>
      <p:sp>
        <p:nvSpPr>
          <p:cNvPr id="264" name="Google Shape;264;p23"/>
          <p:cNvSpPr/>
          <p:nvPr/>
        </p:nvSpPr>
        <p:spPr>
          <a:xfrm>
            <a:off x="228600" y="3675888"/>
            <a:ext cx="384000" cy="475500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228600" y="3675888"/>
            <a:ext cx="384000" cy="475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137160" y="3630168"/>
            <a:ext cx="566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/>
          </a:p>
        </p:txBody>
      </p:sp>
      <p:sp>
        <p:nvSpPr>
          <p:cNvPr id="267" name="Google Shape;267;p23"/>
          <p:cNvSpPr/>
          <p:nvPr/>
        </p:nvSpPr>
        <p:spPr>
          <a:xfrm>
            <a:off x="685800" y="3712464"/>
            <a:ext cx="3749100" cy="42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703993" y="3666744"/>
            <a:ext cx="38223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A-S cuts inventory risk ~2× vs symmetric — same P&amp;L, half the std deviation.</a:t>
            </a:r>
            <a:endParaRPr b="0" i="0" sz="1200" u="none" cap="none" strike="noStrike"/>
          </a:p>
        </p:txBody>
      </p:sp>
      <p:sp>
        <p:nvSpPr>
          <p:cNvPr id="269" name="Google Shape;269;p23"/>
          <p:cNvSpPr/>
          <p:nvPr/>
        </p:nvSpPr>
        <p:spPr>
          <a:xfrm>
            <a:off x="4599432" y="3675888"/>
            <a:ext cx="384000" cy="475500"/>
          </a:xfrm>
          <a:prstGeom prst="rect">
            <a:avLst/>
          </a:prstGeom>
          <a:solidFill>
            <a:srgbClr val="0E7C7B"/>
          </a:solidFill>
          <a:ln cap="flat" cmpd="sng" w="9525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4599432" y="3675888"/>
            <a:ext cx="384000" cy="475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3"/>
          <p:cNvSpPr/>
          <p:nvPr/>
        </p:nvSpPr>
        <p:spPr>
          <a:xfrm>
            <a:off x="4507992" y="3630168"/>
            <a:ext cx="566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/>
          </a:p>
        </p:txBody>
      </p:sp>
      <p:sp>
        <p:nvSpPr>
          <p:cNvPr id="272" name="Google Shape;272;p23"/>
          <p:cNvSpPr/>
          <p:nvPr/>
        </p:nvSpPr>
        <p:spPr>
          <a:xfrm>
            <a:off x="5056632" y="3712464"/>
            <a:ext cx="3749100" cy="42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5074825" y="3666744"/>
            <a:ext cx="38223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GARCH + regime detection further reduce risk when market assumptions are relaxed.</a:t>
            </a:r>
            <a:endParaRPr b="0" i="0" sz="1200" u="none" cap="none" strike="noStrike"/>
          </a:p>
        </p:txBody>
      </p:sp>
      <p:sp>
        <p:nvSpPr>
          <p:cNvPr id="274" name="Google Shape;274;p23"/>
          <p:cNvSpPr/>
          <p:nvPr/>
        </p:nvSpPr>
        <p:spPr>
          <a:xfrm>
            <a:off x="228600" y="4297680"/>
            <a:ext cx="384000" cy="475500"/>
          </a:xfrm>
          <a:prstGeom prst="rect">
            <a:avLst/>
          </a:prstGeom>
          <a:solidFill>
            <a:srgbClr val="E67E22"/>
          </a:solidFill>
          <a:ln cap="flat" cmpd="sng" w="952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228600" y="4297680"/>
            <a:ext cx="384000" cy="475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3"/>
          <p:cNvSpPr/>
          <p:nvPr/>
        </p:nvSpPr>
        <p:spPr>
          <a:xfrm>
            <a:off x="137160" y="4251960"/>
            <a:ext cx="566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/>
          </a:p>
        </p:txBody>
      </p:sp>
      <p:sp>
        <p:nvSpPr>
          <p:cNvPr id="277" name="Google Shape;277;p23"/>
          <p:cNvSpPr/>
          <p:nvPr/>
        </p:nvSpPr>
        <p:spPr>
          <a:xfrm>
            <a:off x="685800" y="4334256"/>
            <a:ext cx="3749100" cy="42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3"/>
          <p:cNvSpPr/>
          <p:nvPr/>
        </p:nvSpPr>
        <p:spPr>
          <a:xfrm>
            <a:off x="703993" y="4288536"/>
            <a:ext cx="38223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LOBSTER data confirms exponential λ(δ) with R²&gt;0.85 — paper parameters validated.</a:t>
            </a:r>
            <a:endParaRPr b="0" i="0" sz="1200" u="none" cap="none" strike="noStrike"/>
          </a:p>
        </p:txBody>
      </p:sp>
      <p:sp>
        <p:nvSpPr>
          <p:cNvPr id="279" name="Google Shape;279;p23"/>
          <p:cNvSpPr/>
          <p:nvPr/>
        </p:nvSpPr>
        <p:spPr>
          <a:xfrm>
            <a:off x="4599432" y="4297680"/>
            <a:ext cx="384000" cy="475500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4599432" y="4297680"/>
            <a:ext cx="384000" cy="475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4507992" y="4251960"/>
            <a:ext cx="566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/>
          </a:p>
        </p:txBody>
      </p:sp>
      <p:sp>
        <p:nvSpPr>
          <p:cNvPr id="282" name="Google Shape;282;p23"/>
          <p:cNvSpPr/>
          <p:nvPr/>
        </p:nvSpPr>
        <p:spPr>
          <a:xfrm>
            <a:off x="5056632" y="4334256"/>
            <a:ext cx="3749100" cy="42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3"/>
          <p:cNvSpPr/>
          <p:nvPr/>
        </p:nvSpPr>
        <p:spPr>
          <a:xfrm>
            <a:off x="5074825" y="4288536"/>
            <a:ext cx="38223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Tabular RL underperforms A-S: when the analytic solution fits the environment, use it.</a:t>
            </a:r>
            <a:endParaRPr b="0" i="0" sz="1200" u="none" cap="none" strike="noStrike"/>
          </a:p>
        </p:txBody>
      </p:sp>
      <p:pic>
        <p:nvPicPr>
          <p:cNvPr descr="preencoded.png" id="284" name="Google Shape;28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56" y="749862"/>
            <a:ext cx="5395224" cy="245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x9_BG-02.jpg" id="290" name="Google Shape;2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468629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4"/>
          <p:cNvSpPr txBox="1"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A2C64"/>
          </a:solidFill>
          <a:ln>
            <a:noFill/>
          </a:ln>
          <a:effectLst>
            <a:outerShdw blurRad="6350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800" y="4803775"/>
            <a:ext cx="1827214" cy="22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4"/>
          <p:cNvSpPr txBox="1"/>
          <p:nvPr/>
        </p:nvSpPr>
        <p:spPr>
          <a:xfrm>
            <a:off x="600" y="1258650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i="1" lang="en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https://qohmdrcktm3bqild9idtapp.streamlit.app/</a:t>
            </a:r>
            <a:endParaRPr i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i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